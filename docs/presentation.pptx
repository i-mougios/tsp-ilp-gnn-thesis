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6405"/>
  </p:normalViewPr>
  <p:slideViewPr>
    <p:cSldViewPr snapToGrid="0">
      <p:cViewPr varScale="1">
        <p:scale>
          <a:sx n="85" d="100"/>
          <a:sy n="85" d="100"/>
        </p:scale>
        <p:origin x="3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9B680F-5E64-8940-DD9B-3DE82D73A7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l-GR" sz="36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Πανεπιστήμιο Πειραιώς – Τμήμα Πληροφορικής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DA721D-1556-AF81-C239-C551F8FEB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l-GR" sz="1800" kern="100" dirty="0">
                <a:effectLst/>
                <a:latin typeface="Arial Black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Πρόγραμμα Μεταπτυχιακών Σπουδών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l-GR" sz="1800" dirty="0">
                <a:effectLst/>
                <a:latin typeface="Arial Black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Κυβερνοασφάλεια και Επιστήμη Δεδομένων</a:t>
            </a:r>
            <a:r>
              <a:rPr lang="en-US" dirty="0">
                <a:effectLst/>
              </a:rPr>
              <a:t> </a:t>
            </a:r>
            <a:endParaRPr lang="el-GR" dirty="0">
              <a:effectLst/>
            </a:endParaRPr>
          </a:p>
        </p:txBody>
      </p:sp>
      <p:pic>
        <p:nvPicPr>
          <p:cNvPr id="6" name="Picture 5" descr="LOGO-THIREOS-PANTONE">
            <a:extLst>
              <a:ext uri="{FF2B5EF4-FFF2-40B4-BE49-F238E27FC236}">
                <a16:creationId xmlns:a16="http://schemas.microsoft.com/office/drawing/2014/main" id="{5156237E-670A-C699-9B55-80A104229E2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6210" y="954087"/>
            <a:ext cx="8858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40E40E-5BFC-7C6C-A184-B4A28FD1C029}"/>
              </a:ext>
            </a:extLst>
          </p:cNvPr>
          <p:cNvSpPr txBox="1"/>
          <p:nvPr/>
        </p:nvSpPr>
        <p:spPr>
          <a:xfrm>
            <a:off x="790682" y="4966814"/>
            <a:ext cx="1088315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l-GR" b="0" i="0" u="none" strike="noStrike" dirty="0">
                <a:effectLst/>
              </a:rPr>
            </a:br>
            <a:r>
              <a:rPr lang="el-GR" b="1" i="0" u="none" strike="noStrike" dirty="0">
                <a:effectLst/>
              </a:rPr>
              <a:t> Νευρωνικά Δίκτυα Γράφων για την επίλυση του Προβλήματος του Περιοδεύοντος Πωλητή : </a:t>
            </a:r>
          </a:p>
          <a:p>
            <a:pPr algn="ctr"/>
            <a:r>
              <a:rPr lang="el-GR" b="1" i="0" u="none" strike="noStrike" dirty="0">
                <a:effectLst/>
              </a:rPr>
              <a:t>Συνδυασμός Μαθηματικού Προγραμματισμού και Μηχανικής Μάθησης</a:t>
            </a:r>
          </a:p>
          <a:p>
            <a:pPr algn="ctr"/>
            <a:endParaRPr lang="el-GR" sz="1600" b="1" i="0" u="none" strike="noStrike" dirty="0">
              <a:effectLst/>
            </a:endParaRPr>
          </a:p>
          <a:p>
            <a:r>
              <a:rPr lang="el-GR" sz="1600" b="1" i="0" u="none" strike="noStrike" dirty="0">
                <a:effectLst/>
              </a:rPr>
              <a:t> </a:t>
            </a:r>
            <a:r>
              <a:rPr lang="el-GR" sz="1600" b="1" i="1" dirty="0"/>
              <a:t>Φοιτητής: Μούγιος Ιωάννης</a:t>
            </a:r>
            <a:r>
              <a:rPr lang="en-US" sz="1600" b="1" i="1" dirty="0"/>
              <a:t>                                                                              </a:t>
            </a:r>
            <a:r>
              <a:rPr lang="el-GR" sz="1600" b="1" i="1" u="none" strike="noStrike" dirty="0">
                <a:effectLst/>
              </a:rPr>
              <a:t>Επιβλ</a:t>
            </a:r>
            <a:r>
              <a:rPr lang="el-GR" sz="1600" b="1" i="1" dirty="0"/>
              <a:t>έπων: Κορωνάκος Γρηγόριος</a:t>
            </a:r>
            <a:endParaRPr lang="el-GR" sz="1600" b="1" i="1" u="none" strike="noStrike" dirty="0">
              <a:effectLst/>
            </a:endParaRPr>
          </a:p>
          <a:p>
            <a:endParaRPr lang="el-GR" b="0" i="0" u="none" strike="noStrike" dirty="0">
              <a:effectLst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8DA2145A-26D4-DD04-CF1E-B080746A6263}"/>
              </a:ext>
            </a:extLst>
          </p:cNvPr>
          <p:cNvSpPr txBox="1">
            <a:spLocks/>
          </p:cNvSpPr>
          <p:nvPr/>
        </p:nvSpPr>
        <p:spPr>
          <a:xfrm>
            <a:off x="2038241" y="4065426"/>
            <a:ext cx="8676222" cy="1049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Subtitle 4">
            <a:extLst>
              <a:ext uri="{FF2B5EF4-FFF2-40B4-BE49-F238E27FC236}">
                <a16:creationId xmlns:a16="http://schemas.microsoft.com/office/drawing/2014/main" id="{F085AA6D-FBC5-3EBD-18DD-AED753F625B7}"/>
              </a:ext>
            </a:extLst>
          </p:cNvPr>
          <p:cNvSpPr txBox="1">
            <a:spLocks/>
          </p:cNvSpPr>
          <p:nvPr/>
        </p:nvSpPr>
        <p:spPr>
          <a:xfrm>
            <a:off x="1757889" y="3916840"/>
            <a:ext cx="8676222" cy="1049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4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8FB2B-F9D6-5639-AFE4-A9B3C24A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Το ΠρΟΒΛΗΜΑ ΤΟΥ ΠΕΡΙΠΛΑΝΩΜΕΝΟΥ ΠΩΛΗΤΗ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63410B-B55B-88A6-24CF-C9B855AD6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Εύρεση της συντομότερης διαδρομής που περνά από κάθε πόλη μία φορά και επιστρέφει στην αφετηρία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149F47-2E28-240F-039C-4AA22CDB8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40" y="780697"/>
            <a:ext cx="7802880" cy="252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86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AABD22-559C-7B6C-1534-A3A450DF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41120"/>
          </a:xfrm>
        </p:spPr>
        <p:txBody>
          <a:bodyPr/>
          <a:lstStyle/>
          <a:p>
            <a:pPr algn="ctr"/>
            <a:r>
              <a:rPr lang="el-GR" dirty="0"/>
              <a:t>Πλήθος πιθανών Λύσεων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6B0045-2AD8-0B35-4EA9-463C65B2E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66899"/>
            <a:ext cx="9905998" cy="2684781"/>
          </a:xfrm>
        </p:spPr>
        <p:txBody>
          <a:bodyPr/>
          <a:lstStyle/>
          <a:p>
            <a:r>
              <a:rPr lang="el-GR" dirty="0"/>
              <a:t>κάθε πιθανή λύση είναι μια μετάθεση των πόλεων</a:t>
            </a:r>
          </a:p>
          <a:p>
            <a:r>
              <a:rPr lang="el-GR" dirty="0"/>
              <a:t>συνεπώς για </a:t>
            </a:r>
            <a:r>
              <a:rPr lang="el-GR" b="1" dirty="0"/>
              <a:t>ν</a:t>
            </a:r>
            <a:r>
              <a:rPr lang="el-GR" dirty="0"/>
              <a:t> πόλεις, υπάρχουν </a:t>
            </a:r>
            <a:r>
              <a:rPr lang="el-GR" b="1" dirty="0"/>
              <a:t>(ν-1)! </a:t>
            </a:r>
            <a:r>
              <a:rPr lang="el-GR" dirty="0"/>
              <a:t>διαφορετικοί κύκλοι</a:t>
            </a:r>
          </a:p>
          <a:p>
            <a:r>
              <a:rPr lang="el-GR" dirty="0"/>
              <a:t>αν υποθέσουμε ότι το κόστος μετάβασης από την </a:t>
            </a:r>
            <a:r>
              <a:rPr lang="el-GR" b="1" dirty="0"/>
              <a:t>α</a:t>
            </a:r>
            <a:r>
              <a:rPr lang="el-GR" dirty="0"/>
              <a:t> στην </a:t>
            </a:r>
            <a:r>
              <a:rPr lang="el-GR" b="1" dirty="0"/>
              <a:t>β</a:t>
            </a:r>
            <a:r>
              <a:rPr lang="el-GR" dirty="0"/>
              <a:t> πόλη ισούται με το κόστος μετάβασης από την </a:t>
            </a:r>
            <a:r>
              <a:rPr lang="el-GR" b="1" dirty="0"/>
              <a:t>β</a:t>
            </a:r>
            <a:r>
              <a:rPr lang="el-GR" dirty="0"/>
              <a:t> στην </a:t>
            </a:r>
            <a:r>
              <a:rPr lang="el-GR" b="1" dirty="0"/>
              <a:t>α</a:t>
            </a:r>
            <a:r>
              <a:rPr lang="el-GR" dirty="0"/>
              <a:t> τότε το πλήθος των εφικτών λύσεων μειώνεται στο μισό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86B05-861A-CEDA-3AA0-C023EB5BA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83" y="4074160"/>
            <a:ext cx="4384797" cy="2377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E746EE-E172-3620-7B2B-17CAD38AC6C5}"/>
              </a:ext>
            </a:extLst>
          </p:cNvPr>
          <p:cNvSpPr txBox="1"/>
          <p:nvPr/>
        </p:nvSpPr>
        <p:spPr>
          <a:xfrm>
            <a:off x="6610824" y="4207639"/>
            <a:ext cx="52763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sz="1600" b="1" i="0" u="none" strike="noStrike" dirty="0">
                <a:effectLst/>
              </a:rPr>
              <a:t>Βέλτιστη Λύση (Συμμετρικό </a:t>
            </a:r>
            <a:r>
              <a:rPr lang="en-US" sz="1600" b="1" i="0" u="none" strike="noStrike" dirty="0">
                <a:effectLst/>
              </a:rPr>
              <a:t>TSP):</a:t>
            </a:r>
            <a:endParaRPr lang="en-US" sz="1600" b="0" i="0" u="none" strike="noStrike" dirty="0">
              <a:effectLst/>
            </a:endParaRPr>
          </a:p>
          <a:p>
            <a:pPr algn="l"/>
            <a:r>
              <a:rPr lang="el-GR" sz="1600" b="0" i="0" u="none" strike="noStrike" dirty="0">
                <a:effectLst/>
              </a:rPr>
              <a:t>Δύο κύκλοι </a:t>
            </a:r>
            <a:r>
              <a:rPr lang="el-GR" sz="1600" dirty="0"/>
              <a:t>ί</a:t>
            </a:r>
            <a:r>
              <a:rPr lang="el-GR" sz="1600" b="0" i="0" u="none" strike="noStrike" dirty="0">
                <a:effectLst/>
              </a:rPr>
              <a:t>σου κόστους: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l-GR" sz="1600" b="1" i="0" u="none" strike="noStrike" dirty="0">
                <a:effectLst/>
              </a:rPr>
              <a:t>1 → 2 → 5 → 4 → 3 → 1</a:t>
            </a:r>
            <a:endParaRPr lang="el-GR" sz="1600" b="0" i="0" u="none" strike="noStrike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l-GR" sz="1600" b="1" i="0" u="none" strike="noStrike" dirty="0">
                <a:effectLst/>
              </a:rPr>
              <a:t>1 → 3 → 4 → 5 → 2 → 1</a:t>
            </a:r>
            <a:endParaRPr lang="el-GR" sz="1600" b="0" i="0" u="none" strike="noStrike" dirty="0">
              <a:effectLst/>
            </a:endParaRPr>
          </a:p>
          <a:p>
            <a:pPr algn="l"/>
            <a:r>
              <a:rPr lang="el-GR" sz="1600" b="0" i="0" u="none" strike="noStrike" dirty="0">
                <a:effectLst/>
              </a:rPr>
              <a:t>Στο συμμετρικό </a:t>
            </a:r>
            <a:r>
              <a:rPr lang="en-US" sz="1600" b="0" i="0" u="none" strike="noStrike" dirty="0">
                <a:effectLst/>
              </a:rPr>
              <a:t>TSP</a:t>
            </a:r>
            <a:r>
              <a:rPr lang="el-GR" sz="1600" b="0" i="0" u="none" strike="noStrike" dirty="0">
                <a:effectLst/>
              </a:rPr>
              <a:t>, κάθε διαδρομή μπορεί να διαβαστεί </a:t>
            </a:r>
            <a:r>
              <a:rPr lang="el-GR" sz="1600" b="1" i="0" u="none" strike="noStrike" dirty="0">
                <a:effectLst/>
              </a:rPr>
              <a:t>και από τα δεξιά προς τα αριστερά</a:t>
            </a:r>
            <a:r>
              <a:rPr lang="el-GR" sz="1600" b="0" i="0" u="none" strike="noStrike" dirty="0">
                <a:effectLst/>
              </a:rPr>
              <a:t>, χωρίς μεταβολή του συνολικού κόστους διαδρομής</a:t>
            </a:r>
            <a:endParaRPr lang="el-GR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364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35E9-8C44-790B-447C-0E4680670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80" y="609600"/>
            <a:ext cx="10830559" cy="1905000"/>
          </a:xfrm>
        </p:spPr>
        <p:txBody>
          <a:bodyPr>
            <a:normAutofit/>
          </a:bodyPr>
          <a:lstStyle/>
          <a:p>
            <a:pPr algn="ctr"/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Επίλυση του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TSP 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με ακέραιο Γραμμικό Προγραμματισμό</a:t>
            </a:r>
            <a:b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</a:b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Dantzig–Johnson–Fulkerson (1954)  </a:t>
            </a:r>
            <a:r>
              <a:rPr lang="el-GR" sz="24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ΜΟΝΤΕΛΟΠΟΙΗΣΗ</a:t>
            </a:r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9186CC-F602-BA17-7DCB-928EEFE541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2514600"/>
                <a:ext cx="9905998" cy="312420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l-GR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in</m:t>
                        </m:r>
                      </m:fName>
                      <m:e>
                        <m:nary>
                          <m:naryPr>
                            <m:chr m:val="∑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l-GR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l-GR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l-GR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naryPr>
                              <m:sub>
                                <m:r>
                                  <a:rPr lang="el-G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  <m:r>
                                  <a:rPr lang="el-G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l-G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l-G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l-G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Arial" panose="020B0604020202020204" pitchFamily="34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func>
                  </m:oMath>
                </a14:m>
                <a:r>
                  <a:rPr lang="en-US" dirty="0">
                    <a:effectLst/>
                  </a:rPr>
                  <a:t> </a:t>
                </a:r>
                <a:r>
                  <a:rPr lang="el-GR" dirty="0">
                    <a:effectLst/>
                  </a:rPr>
                  <a:t>							      (2.1)</a:t>
                </a:r>
              </a:p>
              <a:p>
                <a:pPr marL="0" indent="0" algn="just">
                  <a:spcAft>
                    <a:spcPts val="300"/>
                  </a:spcAft>
                  <a:buNone/>
                </a:pPr>
                <a:r>
                  <a:rPr lang="el-GR" sz="1800" kern="1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Υπό τους περιορισμούς: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30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l-GR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l-GR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l-GR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l-GR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l-GR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=1</m:t>
                    </m:r>
                    <m:r>
                      <a:rPr lang="el-GR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 ∀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l-GR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∈</m:t>
                    </m:r>
                    <m:r>
                      <m:rPr>
                        <m:lit/>
                      </m:rP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{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1,</m:t>
                    </m:r>
                    <m:r>
                      <a:rPr lang="el-GR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…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𝑛</m:t>
                    </m:r>
                    <m:r>
                      <m:rPr>
                        <m:lit/>
                      </m:rP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l-GR" sz="1800" kern="1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     				       (2.2)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30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l-GR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l-GR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l-GR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l-GR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=1</m:t>
                    </m:r>
                    <m:r>
                      <a:rPr lang="el-GR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 ∀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l-GR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∈</m:t>
                    </m:r>
                    <m:r>
                      <m:rPr>
                        <m:lit/>
                      </m:rP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{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1,</m:t>
                    </m:r>
                    <m:r>
                      <a:rPr lang="el-GR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…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</m:t>
                    </m:r>
                    <m: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𝑛</m:t>
                    </m:r>
                    <m:r>
                      <m:rPr>
                        <m:lit/>
                      </m:rPr>
                      <a:rPr lang="el-GR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l-GR" sz="1800" b="1" kern="1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l-GR" sz="1800" kern="1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	     				(2.3)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a:rPr lang="el-GR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Q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l-GR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j</m:t>
                            </m:r>
                            <m:r>
                              <a:rPr lang="el-GR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l-GR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Qj</m:t>
                            </m:r>
                            <m:r>
                              <a:rPr lang="el-GR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≠</m:t>
                            </m:r>
                            <m:r>
                              <m:rPr>
                                <m:sty m:val="p"/>
                              </m:rPr>
                              <a:rPr lang="el-GR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sz="1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Q</m:t>
                        </m:r>
                      </m:e>
                    </m:d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1 ∀</m:t>
                    </m:r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𝑄</m:t>
                    </m:r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⊊</m:t>
                    </m:r>
                    <m:r>
                      <m:rPr>
                        <m:lit/>
                      </m:rP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{</m:t>
                    </m:r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1,…,</m:t>
                    </m:r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𝑛</m:t>
                    </m:r>
                    <m:r>
                      <m:rPr>
                        <m:lit/>
                      </m:rP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}</m:t>
                    </m:r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, 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𝑄</m:t>
                        </m:r>
                      </m:e>
                    </m:d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≥2</m:t>
                    </m:r>
                  </m:oMath>
                </a14:m>
                <a:r>
                  <a:rPr lang="el-GR" sz="18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 (2.4)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0,1</m:t>
                        </m:r>
                      </m:e>
                    </m:d>
                    <m:r>
                      <a:rPr lang="el-GR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l-GR" sz="1800" dirty="0">
                    <a:effectLst/>
                    <a:latin typeface="Arial" panose="020B0604020202020204" pitchFamily="34" charset="0"/>
                  </a:rPr>
                  <a:t>       									(2.5)</a:t>
                </a:r>
                <a:endParaRPr lang="el-GR" dirty="0">
                  <a:effectLst/>
                </a:endParaRPr>
              </a:p>
              <a:p>
                <a:pPr marL="0" indent="0">
                  <a:buNone/>
                </a:pPr>
                <a:endParaRPr lang="el-GR" b="0" i="0" u="none" strike="noStrike" dirty="0">
                  <a:solidFill>
                    <a:schemeClr val="tx1"/>
                  </a:solidFill>
                  <a:effectLst/>
                  <a:latin typeface="-webkit-standard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9186CC-F602-BA17-7DCB-928EEFE54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2514600"/>
                <a:ext cx="9905998" cy="3124201"/>
              </a:xfrm>
              <a:blipFill>
                <a:blip r:embed="rId2"/>
                <a:stretch>
                  <a:fillRect l="-384" t="-2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Comparison of the Sub-Tour Elimination Methods for the Asymmetric Traveling  Salesman Problem Applying the SECA Method">
            <a:extLst>
              <a:ext uri="{FF2B5EF4-FFF2-40B4-BE49-F238E27FC236}">
                <a16:creationId xmlns:a16="http://schemas.microsoft.com/office/drawing/2014/main" id="{ABA3FC08-B02F-FA79-DC62-56D2B4416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051" y="5115001"/>
            <a:ext cx="4175760" cy="132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3E448D-E93D-B1D1-9AF7-69ED0A0884E1}"/>
              </a:ext>
            </a:extLst>
          </p:cNvPr>
          <p:cNvCxnSpPr/>
          <p:nvPr/>
        </p:nvCxnSpPr>
        <p:spPr>
          <a:xfrm>
            <a:off x="7335520" y="4318128"/>
            <a:ext cx="2032000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92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9F94D4-ADC3-CF26-9DC9-2A67F63D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11165840" cy="1574799"/>
          </a:xfrm>
        </p:spPr>
        <p:txBody>
          <a:bodyPr>
            <a:normAutofit/>
          </a:bodyPr>
          <a:lstStyle/>
          <a:p>
            <a:r>
              <a:rPr lang="el-GR" sz="28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Γιατί το </a:t>
            </a: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TSP </a:t>
            </a:r>
            <a:r>
              <a:rPr lang="el-GR" sz="28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παραμένει </a:t>
            </a: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NP - HARD;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48F1BC-2566-FFEC-19AA-6F5FE324AE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1411" y="2189480"/>
            <a:ext cx="9906000" cy="838200"/>
          </a:xfrm>
        </p:spPr>
        <p:txBody>
          <a:bodyPr>
            <a:normAutofit fontScale="92500"/>
          </a:bodyPr>
          <a:lstStyle/>
          <a:p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Η εκθετική φύση των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Subtour Elimination Constraints (SEC)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131A4-0CBD-C138-2BB8-030E4E3F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3154680"/>
            <a:ext cx="9906000" cy="3611880"/>
          </a:xfrm>
        </p:spPr>
        <p:txBody>
          <a:bodyPr>
            <a:noAutofit/>
          </a:bodyPr>
          <a:lstStyle/>
          <a:p>
            <a:r>
              <a:rPr lang="el-GR" dirty="0"/>
              <a:t>Κάθε </a:t>
            </a:r>
            <a:r>
              <a:rPr lang="en-US" dirty="0"/>
              <a:t>SEC </a:t>
            </a:r>
            <a:r>
              <a:rPr lang="el-GR" dirty="0"/>
              <a:t>αντιστοιχεί σε ένα </a:t>
            </a:r>
            <a:r>
              <a:rPr lang="el-GR" b="1" dirty="0"/>
              <a:t>υποσύνολο πόλεων</a:t>
            </a:r>
            <a:r>
              <a:rPr lang="el-GR" dirty="0"/>
              <a:t> που σχηματίζει πιθανό </a:t>
            </a:r>
            <a:r>
              <a:rPr lang="en-US" dirty="0"/>
              <a:t>subtour.</a:t>
            </a:r>
          </a:p>
          <a:p>
            <a:r>
              <a:rPr lang="el-GR" dirty="0"/>
              <a:t>Το  δυναμοσυνολο ενός συνόλου </a:t>
            </a:r>
            <a:r>
              <a:rPr lang="en-US" dirty="0"/>
              <a:t>n </a:t>
            </a:r>
            <a:r>
              <a:rPr lang="el-GR" dirty="0"/>
              <a:t>πόλεων αποτελείτε από </a:t>
            </a:r>
            <a:r>
              <a:rPr lang="el-GR" b="1" dirty="0"/>
              <a:t>2</a:t>
            </a:r>
            <a:r>
              <a:rPr lang="el-GR" b="1" baseline="30000" dirty="0"/>
              <a:t>ν  </a:t>
            </a:r>
            <a:r>
              <a:rPr lang="el-GR" dirty="0"/>
              <a:t>υποσύνολα</a:t>
            </a:r>
          </a:p>
          <a:p>
            <a:r>
              <a:rPr lang="el-GR" dirty="0"/>
              <a:t>από αυτά </a:t>
            </a:r>
            <a:r>
              <a:rPr lang="el-GR" b="1" dirty="0"/>
              <a:t>εξαιρούνται</a:t>
            </a:r>
            <a:r>
              <a:rPr lang="el-GR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το </a:t>
            </a:r>
            <a:r>
              <a:rPr lang="el-GR" b="1" dirty="0"/>
              <a:t>κενό σύνολο</a:t>
            </a:r>
            <a:endParaRPr lang="el-G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το </a:t>
            </a:r>
            <a:r>
              <a:rPr lang="el-GR" b="1" dirty="0"/>
              <a:t>πλήρες σύνολο</a:t>
            </a:r>
            <a:r>
              <a:rPr lang="el-GR" dirty="0"/>
              <a:t> (|</a:t>
            </a:r>
            <a:r>
              <a:rPr lang="en-US" dirty="0"/>
              <a:t>S| = n)</a:t>
            </a:r>
          </a:p>
          <a:p>
            <a:r>
              <a:rPr lang="el-GR" dirty="0"/>
              <a:t>Άρα το πλήθος των </a:t>
            </a:r>
            <a:r>
              <a:rPr lang="en-US" dirty="0"/>
              <a:t>SEC </a:t>
            </a:r>
            <a:r>
              <a:rPr lang="el-GR" dirty="0"/>
              <a:t>είναι:</a:t>
            </a:r>
          </a:p>
          <a:p>
            <a:r>
              <a:rPr lang="el-GR" dirty="0"/>
              <a:t>	</a:t>
            </a:r>
            <a:r>
              <a:rPr lang="el-GR" b="1" dirty="0"/>
              <a:t>2</a:t>
            </a:r>
            <a:r>
              <a:rPr lang="el-GR" b="1" baseline="30000" dirty="0"/>
              <a:t>ν </a:t>
            </a:r>
            <a:r>
              <a:rPr lang="el-GR" b="1" dirty="0"/>
              <a:t>- 2</a:t>
            </a:r>
            <a:endParaRPr lang="el-GR" b="1" baseline="30000" dirty="0"/>
          </a:p>
        </p:txBody>
      </p:sp>
    </p:spTree>
    <p:extLst>
      <p:ext uri="{BB962C8B-B14F-4D97-AF65-F5344CB8AC3E}">
        <p14:creationId xmlns:p14="http://schemas.microsoft.com/office/powerpoint/2010/main" val="65891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A4EC18-4583-094A-4656-58FFF787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εναλλακτικές μέθοδοι προσεγγίσεις του TS</a:t>
            </a:r>
            <a:r>
              <a:rPr lang="en-US" dirty="0"/>
              <a:t>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34ADB-5023-50AC-18CC-927FAEC6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l-GR" sz="2400" dirty="0"/>
              <a:t>Ευρετικοί – Γενετικοί Αλγόριθμοι</a:t>
            </a:r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847C1-D6C9-7787-4A9A-9C04699541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l-GR" b="1" dirty="0">
                <a:solidFill>
                  <a:schemeClr val="tx1"/>
                </a:solidFill>
                <a:effectLst/>
              </a:rPr>
              <a:t>υ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ψηλό υπολογιστικό κόστος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: οι ευρετικές χρειάζονται πολύ χρόνο για να συγκλίνουν, ειδικά σε μεγάλα προβλήματα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.</a:t>
            </a:r>
            <a:endParaRPr lang="el-GR" b="0" i="0" u="none" strike="noStrike" dirty="0">
              <a:solidFill>
                <a:schemeClr val="tx1"/>
              </a:solidFill>
              <a:effectLst/>
              <a:latin typeface="-webkit-standard"/>
            </a:endParaRPr>
          </a:p>
          <a:p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αδυναμία γενίκευσης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: δεν υπάρχει κάποιος μηχανισμός μεταφοράς γνώσης από μικρού μεγέθους προβλήματος σε μεγαλύτερου μεγέθους προβλήματα ώστε να επιταχυνθεί η διαδικάσια σύγκλισης.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71E2E3-A580-292B-5207-8656A33B3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l-GR" sz="2400" dirty="0"/>
              <a:t>Νευρωνικά Δίκτυα Γράφων</a:t>
            </a:r>
            <a:endParaRPr lang="en-US" sz="2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6A7A4A-5E5B-BDF7-9EBD-1AA4C38673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l-GR" b="1" dirty="0">
                <a:solidFill>
                  <a:schemeClr val="tx1"/>
                </a:solidFill>
                <a:effectLst/>
              </a:rPr>
              <a:t>μ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ηδενικό κόστος </a:t>
            </a:r>
            <a:r>
              <a:rPr lang="el-GR" b="1" dirty="0">
                <a:solidFill>
                  <a:schemeClr val="tx1"/>
                </a:solidFill>
                <a:effectLst/>
              </a:rPr>
              <a:t>πρόβλεψης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: 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μετά την εκπαίδευση, η πρόβλεψη λύσης είναι 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πολύ ταχύτερη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 από τη λειτουργία </a:t>
            </a:r>
            <a:r>
              <a:rPr lang="el-GR" dirty="0">
                <a:solidFill>
                  <a:schemeClr val="tx1"/>
                </a:solidFill>
                <a:effectLst/>
                <a:latin typeface="-webkit-standard"/>
              </a:rPr>
              <a:t>ενός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 ευρετικού ή γενετικού αλγορίθμου</a:t>
            </a:r>
            <a:endParaRPr lang="el-GR" dirty="0">
              <a:solidFill>
                <a:schemeClr val="tx1"/>
              </a:solidFill>
              <a:effectLst/>
              <a:latin typeface="-webkit-standard"/>
            </a:endParaRPr>
          </a:p>
          <a:p>
            <a:r>
              <a:rPr lang="el-GR" b="1" dirty="0">
                <a:solidFill>
                  <a:schemeClr val="tx1"/>
                </a:solidFill>
                <a:effectLst/>
                <a:latin typeface="-webkit-standard"/>
              </a:rPr>
              <a:t>ΔΥΝΑΤΟΤΗΡΑ ΓΕΝΙΚΕΥΣΗΣ: 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Το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GNN 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μπορεί να μάθει δομικά μοτίβα του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TSP 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από μικρά παραδείγματα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(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π.χ. 20–50 </a:t>
            </a:r>
            <a:r>
              <a:rPr lang="el-GR" dirty="0">
                <a:solidFill>
                  <a:schemeClr val="tx1"/>
                </a:solidFill>
                <a:effectLst/>
                <a:latin typeface="-webkit-standard"/>
              </a:rPr>
              <a:t>κορυφές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) </a:t>
            </a:r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και να τα εφαρμόσει σε πολύ μεγαλύτερα.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3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0374-A30A-3C35-F424-DCC918BE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30960"/>
          </a:xfrm>
        </p:spPr>
        <p:txBody>
          <a:bodyPr/>
          <a:lstStyle/>
          <a:p>
            <a:pPr algn="ctr"/>
            <a:r>
              <a:rPr lang="el-GR" dirty="0"/>
              <a:t>Νευρωνικά Δίκτυα Γράφων στο T</a:t>
            </a:r>
            <a:r>
              <a:rPr lang="en-US" dirty="0"/>
              <a:t>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397D-8699-9680-4A23-2DCF10014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533" y="1940560"/>
            <a:ext cx="8825547" cy="3444240"/>
          </a:xfrm>
        </p:spPr>
        <p:txBody>
          <a:bodyPr>
            <a:normAutofit fontScale="92500" lnSpcReduction="10000"/>
          </a:bodyPr>
          <a:lstStyle/>
          <a:p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Το 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TSP 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μπορεί να περιγράφει ως πλήρως συνεκτικός γραφος</a:t>
            </a:r>
            <a:endParaRPr lang="en-US" b="0" i="0" u="none" strike="noStrike" dirty="0"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Κάθε πόλη είναι μια 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κορυφή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Κάθε ζεύγος πόλεων συνδέεται με μία 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ακμή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 με βάρος την απόσταση.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Ο γράφος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εισόδου είναι </a:t>
            </a:r>
            <a:r>
              <a:rPr lang="el-GR" b="1" dirty="0">
                <a:solidFill>
                  <a:schemeClr val="tx1"/>
                </a:solidFill>
                <a:effectLst/>
              </a:rPr>
              <a:t>π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λήρης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→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κάθε κορυφή έχει ακμή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π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ρος κάθε άλλη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Η βέλτιστη λύση είναι ο κύκλος 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Hamilton </a:t>
            </a:r>
            <a:r>
              <a:rPr lang="el-GR" i="0" u="none" strike="noStrike" dirty="0">
                <a:solidFill>
                  <a:schemeClr val="tx1"/>
                </a:solidFill>
                <a:effectLst/>
              </a:rPr>
              <a:t>ελάχιστου κόστους</a:t>
            </a:r>
            <a:endParaRPr lang="el-GR" b="0" i="0" u="none" strike="noStrike" dirty="0">
              <a:solidFill>
                <a:schemeClr val="tx1"/>
              </a:solidFill>
              <a:effectLst/>
            </a:endParaRPr>
          </a:p>
          <a:p>
            <a:pPr marL="457200" lvl="1" indent="0" algn="l">
              <a:buNone/>
            </a:pPr>
            <a:endParaRPr lang="en-US" b="0" i="0" u="none" strike="noStrike" dirty="0">
              <a:solidFill>
                <a:schemeClr val="tx1"/>
              </a:solidFill>
              <a:effectLst/>
            </a:endParaRPr>
          </a:p>
          <a:p>
            <a:pPr marL="457200" lvl="1" indent="0" algn="l">
              <a:buNone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h</a:t>
            </a:r>
            <a:r>
              <a:rPr lang="el-GR" sz="2400" b="1" dirty="0">
                <a:solidFill>
                  <a:schemeClr val="tx1"/>
                </a:solidFill>
                <a:effectLst/>
              </a:rPr>
              <a:t> προσέγγιση</a:t>
            </a:r>
            <a:r>
              <a:rPr lang="el-GR" sz="2400" b="1" i="0" u="none" strike="noStrike" dirty="0">
                <a:solidFill>
                  <a:schemeClr val="tx1"/>
                </a:solidFill>
                <a:effectLst/>
              </a:rPr>
              <a:t> του T</a:t>
            </a:r>
            <a:r>
              <a:rPr lang="en-US" sz="2400" b="1" i="0" u="none" strike="noStrike" dirty="0">
                <a:solidFill>
                  <a:schemeClr val="tx1"/>
                </a:solidFill>
                <a:effectLst/>
              </a:rPr>
              <a:t>SP</a:t>
            </a:r>
            <a:r>
              <a:rPr lang="el-GR" sz="2400" b="1" i="0" u="none" strike="noStrike" dirty="0">
                <a:solidFill>
                  <a:schemeClr val="tx1"/>
                </a:solidFill>
                <a:effectLst/>
              </a:rPr>
              <a:t> με g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nn</a:t>
            </a:r>
            <a:r>
              <a:rPr lang="el-GR" sz="2400" b="1" i="0" u="none" strike="noStrike" dirty="0">
                <a:solidFill>
                  <a:schemeClr val="tx1"/>
                </a:solidFill>
                <a:effectLst/>
              </a:rPr>
              <a:t> είναι ουσιαστικά ένα πρόβλημα πρόβλεψης ακμών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9855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D11E-32B7-AB6D-173F-600DC786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34720"/>
          </a:xfrm>
        </p:spPr>
        <p:txBody>
          <a:bodyPr/>
          <a:lstStyle/>
          <a:p>
            <a:pPr algn="ctr"/>
            <a:r>
              <a:rPr lang="el-GR" dirty="0"/>
              <a:t>Μεθοδολογία – Συνολική ΡΟΗ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6F88-700B-7CA1-0BE5-C218E4ECE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44320"/>
            <a:ext cx="9905998" cy="493775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1. Παραγωγή βέλτιστων λύσεων</a:t>
            </a:r>
          </a:p>
          <a:p>
            <a:pPr marL="0" indent="0" algn="l">
              <a:buNone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Μικρά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TSP instances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επιλύονται με αμιγή ακέραιο-γραμμικό προγραμματισμό (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PILP),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χρησιμοποιώντας τη διατύπωση 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DFJ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ώστε να εξαχθούν οι πραγματικά βέλτιστες διαδρομές.</a:t>
            </a:r>
          </a:p>
          <a:p>
            <a:pPr algn="l"/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2. Δημιουργία συνόλου εκπαίδευσης</a:t>
            </a:r>
          </a:p>
          <a:p>
            <a:pPr marL="0" indent="0" algn="l">
              <a:buNone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Από κάθε βέλτιστη λύση εξάγονται οι ακμές που ανήκουν στη διαδρομή και συγκροτούνται τα 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labels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για την εκπαίδευση του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GNN.</a:t>
            </a:r>
          </a:p>
          <a:p>
            <a:pPr algn="l"/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3. 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Εκπαίδευση του 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GNN</a:t>
            </a:r>
          </a:p>
          <a:p>
            <a:pPr marL="0" indent="0" algn="l">
              <a:buNone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Το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GNN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μαθαίνει να προβλέπει την πιθανότητα συμμετοχής κάθε ακμής στη βέλτιστη λύση, βασιζόμενο στα δεδομένα του προηγούμενου βήματος.</a:t>
            </a:r>
          </a:p>
          <a:p>
            <a:pPr algn="l"/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4. Καθοδηγούμενη εύρεση κύκλου 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Hamilton (Beam Search)</a:t>
            </a:r>
          </a:p>
          <a:p>
            <a:pPr marL="0" indent="0" algn="l">
              <a:buNone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Οι πιθανότητες που παράγει το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GNN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καθοδηγούν έναν 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beam search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αλγόριθμο, ο οποίος δημιουργεί εφικτές λύσεις με υψηλή ποιότητα.</a:t>
            </a:r>
          </a:p>
          <a:p>
            <a:pPr algn="l"/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5. Αξιολόγηση απόδοσης</a:t>
            </a:r>
          </a:p>
          <a:p>
            <a:pPr marL="0" indent="0">
              <a:buNone/>
            </a:pP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Η απόδοση μετριέται με τη </a:t>
            </a:r>
            <a:r>
              <a:rPr lang="el-GR" b="1" i="0" u="none" strike="noStrike" dirty="0">
                <a:solidFill>
                  <a:schemeClr val="tx1"/>
                </a:solidFill>
                <a:effectLst/>
              </a:rPr>
              <a:t>σχετική απόκλιση (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relative deviation)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,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δηλαδή το ποσοστό διαφοράς ανάμεσα στη διαδρομή που προκύπτει από το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GNN + beam search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και τη βέλτιστη διαδρομή του 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PILP.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73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F672-5F7D-0532-0E44-946551F3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Αρχιτεκτονική G</a:t>
            </a:r>
            <a:r>
              <a:rPr lang="en-US" dirty="0"/>
              <a:t>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1936D-68FB-AC38-7E33-771D9B25D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013" y="1991360"/>
            <a:ext cx="5259387" cy="4439920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b="0" i="0" u="none" strike="noStrike" dirty="0">
              <a:solidFill>
                <a:schemeClr val="tx1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Node Encoder: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Μετατρέπει τις 2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D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συντεταγμένες των κόμβων σε πλουσιότερα διανύσματα.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Edge Encoder: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Κωδικοποιεί την ευκλείδια απόσταση κάθε ακμής σε διανυσματική αναπαράσταση.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Graph Attention Layers (GAT):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Ενημερώνουν τα χαρακτηριστικά κάθε κόμβου με βάση γείτονες και ακμές, δίνοντας μεγαλύτερη "προσοχή" σε σημαντικά στοιχεία.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Edge Prediction Module: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Συνδυάζει χαρακτηριστικά κόμβων και ακμών και προβλέπει, μέσω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Multi</a:t>
            </a:r>
            <a:r>
              <a:rPr lang="el-G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Layer Perceptron</a:t>
            </a:r>
            <a:r>
              <a:rPr lang="en-US" dirty="0">
                <a:effectLst/>
              </a:rPr>
              <a:t> - </a:t>
            </a:r>
            <a:r>
              <a:rPr lang="en-US" dirty="0" err="1">
                <a:solidFill>
                  <a:schemeClr val="tx1"/>
                </a:solidFill>
                <a:effectLst/>
              </a:rPr>
              <a:t>mlp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 </a:t>
            </a:r>
            <a:r>
              <a:rPr lang="el-GR" b="0" i="0" u="none" strike="noStrike" dirty="0">
                <a:solidFill>
                  <a:schemeClr val="tx1"/>
                </a:solidFill>
                <a:effectLst/>
              </a:rPr>
              <a:t>την πιθανότητα συμμετοχής κάθε ακμής στη βέλτιστη διαδρομή.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7DBB0-6259-D66C-1FEC-5789AD9E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510" y="2192020"/>
            <a:ext cx="4851072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54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EEC9-B6BF-F1F5-51B0-7D8EE008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91920"/>
          </a:xfrm>
        </p:spPr>
        <p:txBody>
          <a:bodyPr/>
          <a:lstStyle/>
          <a:p>
            <a:pPr algn="ctr"/>
            <a:r>
              <a:rPr lang="el-GR" dirty="0"/>
              <a:t>Εκπαίδευση μοντέλου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D184A-10A9-A101-9F0B-462FA1508F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1564640"/>
                <a:ext cx="9905998" cy="3637281"/>
              </a:xfrm>
            </p:spPr>
            <p:txBody>
              <a:bodyPr>
                <a:normAutofit/>
              </a:bodyPr>
              <a:lstStyle/>
              <a:p>
                <a:r>
                  <a:rPr lang="el-GR" dirty="0"/>
                  <a:t>Κατά την διαδικάσια εκπαίδευση οι υπερπαραμέτρο</a:t>
                </a:r>
                <a:r>
                  <a:rPr lang="en-US" dirty="0"/>
                  <a:t>i</a:t>
                </a:r>
                <a:r>
                  <a:rPr lang="el-GR" dirty="0"/>
                  <a:t> εκπαίδευσης ρυθμιστήκαν ώστε να μεγιστοποιούν τα μέτρα απόδοση</a:t>
                </a:r>
                <a:r>
                  <a:rPr lang="en-US" dirty="0"/>
                  <a:t>ς</a:t>
                </a:r>
                <a:r>
                  <a:rPr lang="el-GR" dirty="0"/>
                  <a:t> </a:t>
                </a:r>
                <a:r>
                  <a:rPr lang="en-US" b="1" dirty="0"/>
                  <a:t>recall </a:t>
                </a:r>
                <a:r>
                  <a:rPr lang="el-GR" b="1" dirty="0"/>
                  <a:t>k</a:t>
                </a:r>
                <a:r>
                  <a:rPr lang="en-US" b="1" dirty="0"/>
                  <a:t>ai </a:t>
                </a:r>
                <a:r>
                  <a:rPr lang="el-GR" b="1" dirty="0"/>
                  <a:t>p</a:t>
                </a:r>
                <a:r>
                  <a:rPr lang="en-US" b="1" dirty="0"/>
                  <a:t>r-auc</a:t>
                </a:r>
              </a:p>
              <a:p>
                <a:pPr lvl="1"/>
                <a:r>
                  <a:rPr lang="el-GR" b="1" dirty="0">
                    <a:solidFill>
                      <a:schemeClr val="tx1"/>
                    </a:solidFill>
                  </a:rPr>
                  <a:t>r</a:t>
                </a:r>
                <a:r>
                  <a:rPr lang="en-US" b="1" dirty="0">
                    <a:solidFill>
                      <a:schemeClr val="tx1"/>
                    </a:solidFill>
                  </a:rPr>
                  <a:t>ecall </a:t>
                </a:r>
                <a:r>
                  <a:rPr lang="en-US" b="1" dirty="0"/>
                  <a:t>: </a:t>
                </a:r>
                <a:r>
                  <a:rPr lang="el-GR" i="0" u="none" strike="noStrike" dirty="0">
                    <a:solidFill>
                      <a:schemeClr val="tx1"/>
                    </a:solidFill>
                    <a:effectLst/>
                    <a:latin typeface="-webkit-standard"/>
                  </a:rPr>
                  <a:t>ποσοστό θετικών ακμών που εντοπίζει σωστά το μοντέλο</a:t>
                </a:r>
                <a14:m>
                  <m:oMath xmlns:m="http://schemas.openxmlformats.org/officeDocument/2006/math">
                    <m:r>
                      <a:rPr lang="en-US" b="0" i="0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i="1" u="none" strike="noStrike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u="none" strike="noStrike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u="none" strike="noStrike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u="none" strike="noStrike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u="none" strike="noStrike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</a:rPr>
                  <a:t>pr-auc: </a:t>
                </a:r>
                <a:r>
                  <a:rPr lang="el-GR" b="0" i="0" u="none" strike="noStrike" dirty="0">
                    <a:solidFill>
                      <a:schemeClr val="tx1"/>
                    </a:solidFill>
                    <a:effectLst/>
                    <a:latin typeface="-webkit-standard"/>
                  </a:rPr>
                  <a:t>αποτυπώνει συνολικά την απόδοση του μοντέλου, δείχνοντας την ισορροπία μεταξύ </a:t>
                </a:r>
                <a:r>
                  <a:rPr lang="en-US" b="0" i="0" u="none" strike="noStrike" dirty="0">
                    <a:solidFill>
                      <a:schemeClr val="tx1"/>
                    </a:solidFill>
                    <a:effectLst/>
                    <a:latin typeface="-webkit-standard"/>
                  </a:rPr>
                  <a:t>Precision (</a:t>
                </a:r>
                <a:r>
                  <a:rPr lang="el-GR" b="0" i="0" u="none" strike="noStrike" dirty="0">
                    <a:solidFill>
                      <a:schemeClr val="tx1"/>
                    </a:solidFill>
                    <a:effectLst/>
                    <a:latin typeface="-webkit-standard"/>
                  </a:rPr>
                  <a:t>ακρίβειας) και </a:t>
                </a:r>
                <a:r>
                  <a:rPr lang="en-US" b="0" i="0" u="none" strike="noStrike" dirty="0">
                    <a:solidFill>
                      <a:schemeClr val="tx1"/>
                    </a:solidFill>
                    <a:effectLst/>
                    <a:latin typeface="-webkit-standard"/>
                  </a:rPr>
                  <a:t>Recall (</a:t>
                </a:r>
                <a:r>
                  <a:rPr lang="el-GR" b="0" i="0" u="none" strike="noStrike" dirty="0">
                    <a:solidFill>
                      <a:schemeClr val="tx1"/>
                    </a:solidFill>
                    <a:effectLst/>
                    <a:latin typeface="-webkit-standard"/>
                  </a:rPr>
                  <a:t>ανάκλησης) για διάφορες τιμές κατωφλίου ταξινόμησης.</a:t>
                </a: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  <a:effectLst/>
                    <a:latin typeface="-webkit-standard"/>
                  </a:rPr>
                  <a:t>t</a:t>
                </a:r>
                <a:r>
                  <a:rPr lang="el-GR" b="1" dirty="0">
                    <a:solidFill>
                      <a:schemeClr val="tx1"/>
                    </a:solidFill>
                    <a:effectLst/>
                    <a:latin typeface="-webkit-standard"/>
                  </a:rPr>
                  <a:t>ο μέτρο απόδοσης </a:t>
                </a:r>
                <a:r>
                  <a:rPr lang="en-US" b="1" dirty="0">
                    <a:solidFill>
                      <a:schemeClr val="tx1"/>
                    </a:solidFill>
                    <a:effectLst/>
                    <a:latin typeface="-webkit-standard"/>
                  </a:rPr>
                  <a:t>accuracy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-webkit-standard"/>
                  </a:rPr>
                  <a:t> einai π</a:t>
                </a:r>
                <a:r>
                  <a:rPr lang="el-GR" dirty="0">
                    <a:solidFill>
                      <a:schemeClr val="tx1"/>
                    </a:solidFill>
                    <a:effectLst/>
                    <a:latin typeface="-webkit-standard"/>
                  </a:rPr>
                  <a:t>παραπλανητικό στο t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-webkit-standard"/>
                  </a:rPr>
                  <a:t>sp</a:t>
                </a:r>
                <a:r>
                  <a:rPr lang="el-GR" dirty="0">
                    <a:solidFill>
                      <a:schemeClr val="tx1"/>
                    </a:solidFill>
                    <a:effectLst/>
                    <a:latin typeface="-webkit-standard"/>
                  </a:rPr>
                  <a:t> καθώς ένα μοντέλο που προβλέπει πάντα «όχι» θα είχε υψηλό s</a:t>
                </a:r>
                <a:r>
                  <a:rPr lang="en-US" dirty="0">
                    <a:solidFill>
                      <a:schemeClr val="tx1"/>
                    </a:solidFill>
                    <a:effectLst/>
                    <a:latin typeface="-webkit-standard"/>
                  </a:rPr>
                  <a:t>core </a:t>
                </a:r>
                <a:r>
                  <a:rPr lang="el-GR" dirty="0">
                    <a:solidFill>
                      <a:schemeClr val="tx1"/>
                    </a:solidFill>
                    <a:effectLst/>
                    <a:latin typeface="-webkit-standard"/>
                  </a:rPr>
                  <a:t>αποτυγχάνοντας ωστόσο να αναγνωρίσει τις λίγες αλλά κρίσιμες θετικές ακμές</a:t>
                </a:r>
              </a:p>
              <a:p>
                <a:pPr marL="457200" lvl="1" indent="0">
                  <a:buNone/>
                </a:pPr>
                <a:r>
                  <a:rPr lang="el-GR" sz="2200" b="1" dirty="0">
                    <a:solidFill>
                      <a:schemeClr val="tx1"/>
                    </a:solidFill>
                    <a:effectLst/>
                    <a:latin typeface="-webkit-standard"/>
                  </a:rPr>
                  <a:t>στο t</a:t>
                </a:r>
                <a:r>
                  <a:rPr lang="en-US" sz="2200" b="1" dirty="0">
                    <a:solidFill>
                      <a:schemeClr val="tx1"/>
                    </a:solidFill>
                    <a:effectLst/>
                    <a:latin typeface="-webkit-standard"/>
                  </a:rPr>
                  <a:t>sp, </a:t>
                </a:r>
                <a:r>
                  <a:rPr lang="el-GR" sz="2200" b="1" dirty="0">
                    <a:solidFill>
                      <a:schemeClr val="tx1"/>
                    </a:solidFill>
                    <a:effectLst/>
                    <a:latin typeface="-webkit-standard"/>
                  </a:rPr>
                  <a:t>οι θετικές ακμές είναι λίγες και κρίσιμες — θέλουμε να τις βρίσκουμε όλες.</a:t>
                </a:r>
              </a:p>
              <a:p>
                <a:pPr lvl="1"/>
                <a:endParaRPr lang="el-GR" b="1" dirty="0">
                  <a:solidFill>
                    <a:schemeClr val="tx1"/>
                  </a:solidFill>
                  <a:effectLst/>
                  <a:latin typeface="-webkit-standard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D184A-10A9-A101-9F0B-462FA1508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1564640"/>
                <a:ext cx="9905998" cy="3637281"/>
              </a:xfrm>
              <a:blipFill>
                <a:blip r:embed="rId2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62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BC23-932C-5526-82E2-0353B3D9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3153"/>
            <a:ext cx="9905998" cy="1158240"/>
          </a:xfrm>
        </p:spPr>
        <p:txBody>
          <a:bodyPr/>
          <a:lstStyle/>
          <a:p>
            <a:pPr algn="ctr"/>
            <a:r>
              <a:rPr lang="el-GR"/>
              <a:t>αποτελεσματα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20DE10-94C9-6ECD-1E65-FB6D91C6EB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7827" y="1567499"/>
            <a:ext cx="5077685" cy="2912259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196A2F2-689B-86D9-2C83-D81FC55833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6488" y="1570067"/>
            <a:ext cx="5320074" cy="29122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CE89B-8CAB-BD55-4B12-ABF46226CC12}"/>
              </a:ext>
            </a:extLst>
          </p:cNvPr>
          <p:cNvSpPr txBox="1"/>
          <p:nvPr/>
        </p:nvSpPr>
        <p:spPr>
          <a:xfrm>
            <a:off x="395416" y="4586290"/>
            <a:ext cx="527571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Η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μέση σχετική απόκλιση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στο σύνολο ελέγχου ανήλθε στο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32.49%</a:t>
            </a:r>
            <a:r>
              <a:rPr lang="en-US" sz="1600" dirty="0">
                <a:effectLst/>
              </a:rPr>
              <a:t> </a:t>
            </a:r>
            <a:endParaRPr lang="el-GR" sz="16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Η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ελάχιστη</a:t>
            </a: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απόκλιση είναι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0.00%, γεγονός που δείχνει πως σε κάποιες περιπτώσεις το μοντέλο βρήκε την  βέλτιστη λύση</a:t>
            </a:r>
            <a:r>
              <a:rPr lang="en-US" sz="1600" dirty="0">
                <a:effectLst/>
              </a:rPr>
              <a:t> </a:t>
            </a:r>
            <a:endParaRPr lang="el-G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600" dirty="0">
                <a:latin typeface="Arial" panose="020B0604020202020204" pitchFamily="34" charset="0"/>
                <a:ea typeface="Calibri" panose="020F0502020204030204" pitchFamily="34" charset="0"/>
              </a:rPr>
              <a:t>Η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μέγιστη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απόκλιση έφτασε στο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el-G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95.30%, κάτι που φανερώνει αδυναμία γενίκευσης σε ορισμένα προβλήματα.</a:t>
            </a:r>
            <a:r>
              <a:rPr lang="en-US" sz="1600" dirty="0">
                <a:effectLst/>
              </a:rPr>
              <a:t> 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67FA45-E652-6E3E-7F6D-053909E263F5}"/>
              </a:ext>
            </a:extLst>
          </p:cNvPr>
          <p:cNvSpPr txBox="1"/>
          <p:nvPr/>
        </p:nvSpPr>
        <p:spPr>
          <a:xfrm>
            <a:off x="6406488" y="4686317"/>
            <a:ext cx="5320074" cy="171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Aft>
                <a:spcPts val="300"/>
              </a:spcAft>
              <a:buSzPts val="1000"/>
              <a:buFont typeface="Symbol" pitchFamily="2" charset="2"/>
              <a:buChar char=""/>
              <a:tabLst>
                <a:tab pos="228600" algn="l"/>
              </a:tabLst>
            </a:pP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Για γραφήματα με</a:t>
            </a:r>
            <a:r>
              <a:rPr lang="en-US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 κόμβους, η μέση απόκλιση είναι</a:t>
            </a:r>
            <a:r>
              <a:rPr lang="en-US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27.20%</a:t>
            </a:r>
          </a:p>
          <a:p>
            <a:pPr marL="342900" indent="-342900" algn="just">
              <a:spcAft>
                <a:spcPts val="300"/>
              </a:spcAft>
              <a:buSzPts val="1000"/>
              <a:buFont typeface="Symbol" pitchFamily="2" charset="2"/>
              <a:buChar char=""/>
              <a:tabLst>
                <a:tab pos="228600" algn="l"/>
              </a:tabLst>
            </a:pP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Για γραφήματα με</a:t>
            </a:r>
            <a:r>
              <a:rPr lang="en-US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35 κόμβους, η μέση απόκλιση αυξάνεται στο</a:t>
            </a:r>
            <a:r>
              <a:rPr lang="en-US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34.15%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300"/>
              </a:spcAft>
              <a:buSzPts val="1000"/>
              <a:buFont typeface="Symbol" pitchFamily="2" charset="2"/>
              <a:buChar char=""/>
              <a:tabLst>
                <a:tab pos="228600" algn="l"/>
              </a:tabLst>
            </a:pP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Για γραφήματα με</a:t>
            </a:r>
            <a:r>
              <a:rPr lang="en-US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 κόμβους, φτάνει το</a:t>
            </a:r>
            <a:r>
              <a:rPr lang="en-US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l-GR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36.10%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SzPts val="1000"/>
              <a:buFont typeface="Symbol" pitchFamily="2" charset="2"/>
              <a:buChar char=""/>
              <a:tabLst>
                <a:tab pos="228600" algn="l"/>
              </a:tabLs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61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507736-A1B3-E05B-D1AE-CD4884A7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Ευχαριστώ πολύ!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F87E62-6C18-5F3C-1F01-0200DC9E5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(Ερωτήσεις – Σχόλια ευπρόσδεκτα)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179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704</TotalTime>
  <Words>1011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Black</vt:lpstr>
      <vt:lpstr>Calibri</vt:lpstr>
      <vt:lpstr>Cambria Math</vt:lpstr>
      <vt:lpstr>Century Gothic</vt:lpstr>
      <vt:lpstr>Symbol</vt:lpstr>
      <vt:lpstr>Times New Roman</vt:lpstr>
      <vt:lpstr>-webkit-standard</vt:lpstr>
      <vt:lpstr>Mesh</vt:lpstr>
      <vt:lpstr>Πανεπιστήμιο Πειραιώς – Τμήμα Πληροφορικής</vt:lpstr>
      <vt:lpstr>Το ΠρΟΒΛΗΜΑ ΤΟΥ ΠΕΡΙΠΛΑΝΩΜΕΝΟΥ ΠΩΛΗΤΗ</vt:lpstr>
      <vt:lpstr>Πλήθος πιθανών Λύσεων</vt:lpstr>
      <vt:lpstr>Επίλυση του TSP με ακέραιο Γραμμικό Προγραμματισμό Dantzig–Johnson–Fulkerson (1954)  ΜΟΝΤΕΛΟΠΟΙΗΣΗ</vt:lpstr>
      <vt:lpstr>Γιατί το TSP παραμένει NP - HARD;</vt:lpstr>
      <vt:lpstr>εναλλακτικές μέθοδοι προσεγγίσεις του TSP</vt:lpstr>
      <vt:lpstr>Νευρωνικά Δίκτυα Γράφων στο TSP</vt:lpstr>
      <vt:lpstr>Μεθοδολογία – Συνολική ΡΟΗ</vt:lpstr>
      <vt:lpstr>Αρχιτεκτονική GNN</vt:lpstr>
      <vt:lpstr>Εκπαίδευση μοντέλου</vt:lpstr>
      <vt:lpstr>αποτελεσματα</vt:lpstr>
      <vt:lpstr>Ευχαριστώ πολύ!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Πανεπιστήμιο Πειραιώς – Τμήμα Πληροφορικής</dc:title>
  <dc:creator>Giannis mougios</dc:creator>
  <cp:lastModifiedBy>Ioannis Mougios</cp:lastModifiedBy>
  <cp:revision>48</cp:revision>
  <dcterms:created xsi:type="dcterms:W3CDTF">2025-11-16T13:23:03Z</dcterms:created>
  <dcterms:modified xsi:type="dcterms:W3CDTF">2025-11-17T14:32:42Z</dcterms:modified>
</cp:coreProperties>
</file>